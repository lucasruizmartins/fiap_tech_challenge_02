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5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-18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8194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02  —  PÓS TECH FIAP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 Dados com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Medallion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em tempo real com Apache Kafka e AWS Lambda, da ingestão bruta às camadas Bronze, Silver e Gold.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457200" cy="4572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</p:sp>
      <p:pic>
        <p:nvPicPr>
          <p:cNvPr id="9" name="Image 0" descr="/home/claude/icons/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595" y="4658868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5029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691640" y="4526280"/>
            <a:ext cx="457200" cy="4572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</p:sp>
      <p:pic>
        <p:nvPicPr>
          <p:cNvPr id="12" name="Image 1" descr="/home/claude/icons/filt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138" y="4653778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5029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560320" y="4526280"/>
            <a:ext cx="457200" cy="4572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</p:sp>
      <p:pic>
        <p:nvPicPr>
          <p:cNvPr id="15" name="Image 2" descr="/home/claude/icons/char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9192" y="464515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423160" y="5029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da Alfabetização — INEP  |  2023–2025</a:t>
            </a:r>
            <a:endParaRPr lang="en-US" sz="1100" dirty="0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6156175-B38F-C087-0B7F-CC335EC88729}"/>
              </a:ext>
            </a:extLst>
          </p:cNvPr>
          <p:cNvSpPr/>
          <p:nvPr/>
        </p:nvSpPr>
        <p:spPr>
          <a:xfrm rot="19090976">
            <a:off x="8013094" y="5303521"/>
            <a:ext cx="4974535" cy="2743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4D5345D4-2600-D1A8-237F-861FB3B83425}"/>
              </a:ext>
            </a:extLst>
          </p:cNvPr>
          <p:cNvSpPr/>
          <p:nvPr/>
        </p:nvSpPr>
        <p:spPr>
          <a:xfrm rot="19090976">
            <a:off x="8637565" y="5645702"/>
            <a:ext cx="4701906" cy="2743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626CF9F-5511-5A94-70FC-97F9C7F46E9B}"/>
              </a:ext>
            </a:extLst>
          </p:cNvPr>
          <p:cNvSpPr/>
          <p:nvPr/>
        </p:nvSpPr>
        <p:spPr>
          <a:xfrm rot="19090976">
            <a:off x="7122835" y="4890227"/>
            <a:ext cx="5941624" cy="27432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0B9A6F25-950F-5902-A741-7089B2F429E6}"/>
              </a:ext>
            </a:extLst>
          </p:cNvPr>
          <p:cNvSpPr/>
          <p:nvPr/>
        </p:nvSpPr>
        <p:spPr>
          <a:xfrm>
            <a:off x="-265072" y="-37094"/>
            <a:ext cx="1614243" cy="530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&lt;Hello World&gt;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 do Projeto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pipeline de dados de ponta a ponta, do dado bruto do INEP a uma base analítica pronta para consumo.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1B242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icons/diagram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20967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933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projeto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projeto de Data Science da Pós Tech FIAP: construção de um pipeline completo sobre os microdados da </a:t>
            </a: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da Alfabetização (INEP)</a:t>
            </a:r>
            <a:r>
              <a:rPr lang="en-US" sz="1300" dirty="0">
                <a:solidFill>
                  <a:srgbClr val="1B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cobrindo os anos de 2023 a 2025.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3703320"/>
            <a:ext cx="4480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Medallion híbrida — processamento em lote (Batch) e em tempo real (Streaming)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via Apache Kafka rodando em EC2, com consumo serverless via AWS Lambda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Enriquecimento dos dados de alunos com médias municipais e estaduais (Stream-Static Join)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qualidade de dados com a biblioteca Pandera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89320" y="1691640"/>
            <a:ext cx="2743200" cy="2103120"/>
          </a:xfrm>
          <a:prstGeom prst="roundRect">
            <a:avLst>
              <a:gd name="adj" fmla="val 3478"/>
            </a:avLst>
          </a:prstGeom>
          <a:solidFill>
            <a:srgbClr val="21295C"/>
          </a:solidFill>
          <a:ln/>
        </p:spPr>
      </p:sp>
      <p:sp>
        <p:nvSpPr>
          <p:cNvPr id="11" name="Shape 8"/>
          <p:cNvSpPr/>
          <p:nvPr/>
        </p:nvSpPr>
        <p:spPr>
          <a:xfrm>
            <a:off x="6217920" y="1920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icons/clo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03911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172200" y="2468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6172200" y="31089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de dados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(2023–2025)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9006840" y="1691640"/>
            <a:ext cx="2743200" cy="2103120"/>
          </a:xfrm>
          <a:prstGeom prst="roundRect">
            <a:avLst>
              <a:gd name="adj" fmla="val 3478"/>
            </a:avLst>
          </a:prstGeom>
          <a:solidFill>
            <a:srgbClr val="21295C"/>
          </a:solidFill>
          <a:ln/>
        </p:spPr>
      </p:sp>
      <p:sp>
        <p:nvSpPr>
          <p:cNvPr id="16" name="Shape 12"/>
          <p:cNvSpPr/>
          <p:nvPr/>
        </p:nvSpPr>
        <p:spPr>
          <a:xfrm>
            <a:off x="9235440" y="1920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/home/claude/icons/databas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4312" y="203911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89720" y="2468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6M+</a:t>
            </a:r>
            <a:endParaRPr lang="en-US" sz="3400" dirty="0"/>
          </a:p>
        </p:txBody>
      </p:sp>
      <p:sp>
        <p:nvSpPr>
          <p:cNvPr id="19" name="Text 14"/>
          <p:cNvSpPr/>
          <p:nvPr/>
        </p:nvSpPr>
        <p:spPr>
          <a:xfrm>
            <a:off x="9189720" y="31089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alunos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processados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989320" y="4069080"/>
            <a:ext cx="2743200" cy="2103120"/>
          </a:xfrm>
          <a:prstGeom prst="roundRect">
            <a:avLst>
              <a:gd name="adj" fmla="val 3478"/>
            </a:avLst>
          </a:prstGeom>
          <a:solidFill>
            <a:srgbClr val="21295C"/>
          </a:solidFill>
          <a:ln/>
        </p:spPr>
      </p:sp>
      <p:sp>
        <p:nvSpPr>
          <p:cNvPr id="21" name="Shape 16"/>
          <p:cNvSpPr/>
          <p:nvPr/>
        </p:nvSpPr>
        <p:spPr>
          <a:xfrm>
            <a:off x="6217920" y="4297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/home/claude/icons/exchang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4416552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172200" y="4846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24" name="Text 18"/>
          <p:cNvSpPr/>
          <p:nvPr/>
        </p:nvSpPr>
        <p:spPr>
          <a:xfrm>
            <a:off x="6172200" y="54864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Modos de execução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+ Streaming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9006840" y="4069080"/>
            <a:ext cx="2743200" cy="2103120"/>
          </a:xfrm>
          <a:prstGeom prst="roundRect">
            <a:avLst>
              <a:gd name="adj" fmla="val 3478"/>
            </a:avLst>
          </a:prstGeom>
          <a:solidFill>
            <a:srgbClr val="21295C"/>
          </a:solidFill>
          <a:ln/>
        </p:spPr>
      </p:sp>
      <p:sp>
        <p:nvSpPr>
          <p:cNvPr id="26" name="Shape 20"/>
          <p:cNvSpPr/>
          <p:nvPr/>
        </p:nvSpPr>
        <p:spPr>
          <a:xfrm>
            <a:off x="9235440" y="4297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4" descr="/home/claude/icons/dollar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4312" y="4416552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89720" y="4846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~$35</a:t>
            </a:r>
            <a:endParaRPr lang="en-US" sz="3400" dirty="0"/>
          </a:p>
        </p:txBody>
      </p:sp>
      <p:sp>
        <p:nvSpPr>
          <p:cNvPr id="29" name="Text 22"/>
          <p:cNvSpPr/>
          <p:nvPr/>
        </p:nvSpPr>
        <p:spPr>
          <a:xfrm>
            <a:off x="9189720" y="54864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mensal da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 err="1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</a:t>
            </a: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AWS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 Tech FIAP  •  Data Science  •  Tech Challenge 02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Medallion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evoluem em qualidade e granularidade a cada camada, de bruto a analítico.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4F8FA"/>
          </a:solidFill>
          <a:ln/>
          <a:effectLst>
            <a:outerShdw blurRad="63500" dist="25400" dir="5400000" algn="bl" rotWithShape="0">
              <a:srgbClr val="1B242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2606040" cy="164592"/>
          </a:xfrm>
          <a:prstGeom prst="roundRect">
            <a:avLst>
              <a:gd name="adj" fmla="val 16667"/>
            </a:avLst>
          </a:prstGeom>
          <a:solidFill>
            <a:srgbClr val="8C8C8C"/>
          </a:solidFill>
          <a:ln/>
        </p:spPr>
      </p:sp>
      <p:sp>
        <p:nvSpPr>
          <p:cNvPr id="6" name="Shape 4"/>
          <p:cNvSpPr/>
          <p:nvPr/>
        </p:nvSpPr>
        <p:spPr>
          <a:xfrm>
            <a:off x="1531620" y="2075688"/>
            <a:ext cx="640080" cy="640080"/>
          </a:xfrm>
          <a:prstGeom prst="ellipse">
            <a:avLst/>
          </a:prstGeom>
          <a:solidFill>
            <a:srgbClr val="8C8C8C"/>
          </a:solidFill>
          <a:ln/>
        </p:spPr>
      </p:sp>
      <p:pic>
        <p:nvPicPr>
          <p:cNvPr id="7" name="Image 0" descr="/home/claude/icons/clou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041" y="2242109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8620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85800" y="32278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brutos originais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3611880"/>
            <a:ext cx="2240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CSVs originais do INEP, imutáveis, baixados diretamente da fonte oficial.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050126" y="3543300"/>
            <a:ext cx="396000" cy="86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3355848" y="169164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4F8FA"/>
          </a:solidFill>
          <a:ln/>
          <a:effectLst>
            <a:outerShdw blurRad="63500" dist="25400" dir="5400000" algn="bl" rotWithShape="0">
              <a:srgbClr val="1B242B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55848" y="1691640"/>
            <a:ext cx="2606040" cy="164592"/>
          </a:xfrm>
          <a:prstGeom prst="roundRect">
            <a:avLst>
              <a:gd name="adj" fmla="val 16667"/>
            </a:avLst>
          </a:prstGeom>
          <a:solidFill>
            <a:srgbClr val="CD7F32"/>
          </a:solidFill>
          <a:ln/>
        </p:spPr>
      </p:sp>
      <p:sp>
        <p:nvSpPr>
          <p:cNvPr id="14" name="Shape 11"/>
          <p:cNvSpPr/>
          <p:nvPr/>
        </p:nvSpPr>
        <p:spPr>
          <a:xfrm>
            <a:off x="4338828" y="2075688"/>
            <a:ext cx="640080" cy="640080"/>
          </a:xfrm>
          <a:prstGeom prst="ellipse">
            <a:avLst/>
          </a:prstGeom>
          <a:solidFill>
            <a:srgbClr val="CD7F32"/>
          </a:solidFill>
          <a:ln/>
        </p:spPr>
      </p:sp>
      <p:pic>
        <p:nvPicPr>
          <p:cNvPr id="15" name="Image 1" descr="/home/claude/icons/datab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5249" y="2242109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55848" y="28620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3493008" y="32278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Parquet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538728" y="3611880"/>
            <a:ext cx="2240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para Parquet particionado por ano. Dados e dicionários organizados em ano=YYYY/.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857334" y="3543300"/>
            <a:ext cx="396000" cy="86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Shape 18"/>
          <p:cNvSpPr/>
          <p:nvPr/>
        </p:nvSpPr>
        <p:spPr>
          <a:xfrm>
            <a:off x="6163056" y="169164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4F8FA"/>
          </a:solidFill>
          <a:ln/>
          <a:effectLst>
            <a:outerShdw blurRad="63500" dist="25400" dir="5400000" algn="bl" rotWithShape="0">
              <a:srgbClr val="1B242B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63056" y="1691640"/>
            <a:ext cx="2606040" cy="164592"/>
          </a:xfrm>
          <a:prstGeom prst="roundRect">
            <a:avLst>
              <a:gd name="adj" fmla="val 16667"/>
            </a:avLst>
          </a:prstGeom>
          <a:solidFill>
            <a:srgbClr val="9CA3AF"/>
          </a:solidFill>
          <a:ln/>
        </p:spPr>
      </p:sp>
      <p:sp>
        <p:nvSpPr>
          <p:cNvPr id="24" name="Shape 20"/>
          <p:cNvSpPr/>
          <p:nvPr/>
        </p:nvSpPr>
        <p:spPr>
          <a:xfrm>
            <a:off x="7146036" y="2075688"/>
            <a:ext cx="640080" cy="640080"/>
          </a:xfrm>
          <a:prstGeom prst="ellipse">
            <a:avLst/>
          </a:prstGeom>
          <a:solidFill>
            <a:srgbClr val="9CA3AF"/>
          </a:solidFill>
          <a:ln/>
        </p:spPr>
      </p:sp>
      <p:pic>
        <p:nvPicPr>
          <p:cNvPr id="25" name="Image 2" descr="/home/claude/icons/filte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2457" y="2242109"/>
            <a:ext cx="307238" cy="30723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163056" y="28620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1900" dirty="0"/>
          </a:p>
        </p:txBody>
      </p:sp>
      <p:sp>
        <p:nvSpPr>
          <p:cNvPr id="27" name="Text 22"/>
          <p:cNvSpPr/>
          <p:nvPr/>
        </p:nvSpPr>
        <p:spPr>
          <a:xfrm>
            <a:off x="6300216" y="32278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enriquecidos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345936" y="3611880"/>
            <a:ext cx="2240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Stream-Static Join: alunos enriquecidos com médias municipais e estaduais, desvios calculados.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8664542" y="3543300"/>
            <a:ext cx="396000" cy="86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2" name="Shape 27"/>
          <p:cNvSpPr/>
          <p:nvPr/>
        </p:nvSpPr>
        <p:spPr>
          <a:xfrm>
            <a:off x="8970264" y="169164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F4F8FA"/>
          </a:solidFill>
          <a:ln/>
          <a:effectLst>
            <a:outerShdw blurRad="63500" dist="25400" dir="5400000" algn="bl" rotWithShape="0">
              <a:srgbClr val="1B242B">
                <a:alpha val="1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8970264" y="1691640"/>
            <a:ext cx="2606040" cy="164592"/>
          </a:xfrm>
          <a:prstGeom prst="roundRect">
            <a:avLst>
              <a:gd name="adj" fmla="val 16667"/>
            </a:avLst>
          </a:prstGeom>
          <a:solidFill>
            <a:srgbClr val="E8A33D"/>
          </a:solidFill>
          <a:ln/>
        </p:spPr>
      </p:sp>
      <p:sp>
        <p:nvSpPr>
          <p:cNvPr id="34" name="Shape 29"/>
          <p:cNvSpPr/>
          <p:nvPr/>
        </p:nvSpPr>
        <p:spPr>
          <a:xfrm>
            <a:off x="9953244" y="2075688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5" name="Image 3" descr="/home/claude/icons/char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9665" y="2242109"/>
            <a:ext cx="307238" cy="30723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8970264" y="28620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900" dirty="0"/>
          </a:p>
        </p:txBody>
      </p:sp>
      <p:sp>
        <p:nvSpPr>
          <p:cNvPr id="37" name="Text 31"/>
          <p:cNvSpPr/>
          <p:nvPr/>
        </p:nvSpPr>
        <p:spPr>
          <a:xfrm>
            <a:off x="9107424" y="32278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Agregações analíticas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9153144" y="3611880"/>
            <a:ext cx="2240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consolidadas por UF e Município via Athena + Glue, prontas para consumo (BI).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 Tech FIAP  •  Data Science  •  Tech Challenge 02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de Streaming em Tempo Real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computador local ao data lake, passando por Kafka em EC2 e um consumer serverless na AWS.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103120" cy="4297680"/>
          </a:xfrm>
          <a:prstGeom prst="roundRect">
            <a:avLst>
              <a:gd name="adj" fmla="val 3478"/>
            </a:avLst>
          </a:prstGeom>
          <a:solidFill>
            <a:srgbClr val="1A2147"/>
          </a:solidFill>
          <a:ln w="12700">
            <a:solidFill>
              <a:srgbClr val="3A4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783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 LOCAL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34440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icons/serv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861" y="245242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063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producer.py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34290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que envia eventos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alunos ao Kafka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85800" y="512064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0F1633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51206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9092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(Internet Gateway)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606040" y="34747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3108960" y="1600200"/>
            <a:ext cx="8549640" cy="4297680"/>
          </a:xfrm>
          <a:prstGeom prst="roundRect">
            <a:avLst>
              <a:gd name="adj" fmla="val 1702"/>
            </a:avLst>
          </a:prstGeom>
          <a:solidFill>
            <a:srgbClr val="16215A">
              <a:alpha val="80000"/>
            </a:srgbClr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3337560" y="1709928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 —  VPC: fiap-msk-vpc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383280" y="2103120"/>
            <a:ext cx="3383280" cy="3520440"/>
          </a:xfrm>
          <a:prstGeom prst="roundRect">
            <a:avLst>
              <a:gd name="adj" fmla="val 1622"/>
            </a:avLst>
          </a:prstGeom>
          <a:solidFill>
            <a:srgbClr val="0E1740"/>
          </a:solidFill>
          <a:ln w="12700">
            <a:solidFill>
              <a:srgbClr val="4A5A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20440" y="22128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SUBNET-1 (Pública)</a:t>
            </a:r>
            <a:endParaRPr lang="en-US" sz="1000" dirty="0"/>
          </a:p>
        </p:txBody>
      </p:sp>
      <p:pic>
        <p:nvPicPr>
          <p:cNvPr id="18" name="Image 1" descr="/home/claude/icons/kafka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414" y="2760574"/>
            <a:ext cx="285293" cy="28529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20440" y="3337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t3.small (Docker)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3520440" y="36393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3.7.0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657600" y="40690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9092 → Listener Público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9094 → Listener Privado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812280" y="35890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6629400" y="40919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9094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7269480" y="2103120"/>
            <a:ext cx="3383280" cy="3520440"/>
          </a:xfrm>
          <a:prstGeom prst="roundRect">
            <a:avLst>
              <a:gd name="adj" fmla="val 1622"/>
            </a:avLst>
          </a:prstGeom>
          <a:solidFill>
            <a:srgbClr val="0E1740"/>
          </a:solidFill>
          <a:ln w="12700">
            <a:solidFill>
              <a:srgbClr val="4A5A8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406640" y="22128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SUBNET-2 (Privada)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7406640" y="3337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7406640" y="36393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fiap-kafka-s3-consumer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7498080" y="40690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Python 3.12 · Layer AWSSDKPandas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 Tech FIAP  •  Data Science  •  Tech Challenge 02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8D02C5B9-018A-9B12-E52F-928CC1266B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4124" y="2374076"/>
            <a:ext cx="1393991" cy="1051560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135BE4F0-8A15-DBFA-DB45-5A665CD8DC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5430" y="2374076"/>
            <a:ext cx="1623536" cy="1040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Destino Final: Amazon S3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Tanto o modo batch quanto o streaming convergem para a mesma estrutura particionada no S3.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0" cy="4343400"/>
          </a:xfrm>
          <a:prstGeom prst="roundRect">
            <a:avLst>
              <a:gd name="adj" fmla="val 1684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1B242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icons/clou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20967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11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no S3 (Particionamento Hive)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68680" y="2697480"/>
            <a:ext cx="4434840" cy="777240"/>
          </a:xfrm>
          <a:prstGeom prst="roundRect">
            <a:avLst>
              <a:gd name="adj" fmla="val 5882"/>
            </a:avLst>
          </a:prstGeom>
          <a:solidFill>
            <a:srgbClr val="21295C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269748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prata/ano=YYYY/lote_alunos_&lt;timestamp&gt;.parquet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3703320"/>
            <a:ext cx="44348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3703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2023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00400" y="3703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1.747.439 registros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4160520"/>
            <a:ext cx="4434840" cy="457200"/>
          </a:xfrm>
          <a:prstGeom prst="rect">
            <a:avLst/>
          </a:prstGeom>
          <a:solidFill>
            <a:srgbClr val="EAF1F4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4160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2024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200400" y="4160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2.120.560 registros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" y="4617720"/>
            <a:ext cx="44348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617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2025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3200400" y="4617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2.222.792 registros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68680" y="525780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salvas por lote via boto3, com IAM roles S3FullAccess, VPCAccessExecutionRole e EC2ReadOnlyAccess.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806440" y="1691640"/>
            <a:ext cx="5806440" cy="2057400"/>
          </a:xfrm>
          <a:prstGeom prst="roundRect">
            <a:avLst>
              <a:gd name="adj" fmla="val 3556"/>
            </a:avLst>
          </a:prstGeom>
          <a:solidFill>
            <a:srgbClr val="21295C"/>
          </a:solidFill>
          <a:ln/>
        </p:spPr>
      </p:sp>
      <p:sp>
        <p:nvSpPr>
          <p:cNvPr id="21" name="Shape 18"/>
          <p:cNvSpPr/>
          <p:nvPr/>
        </p:nvSpPr>
        <p:spPr>
          <a:xfrm>
            <a:off x="6080760" y="19476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1" descr="/home/claude/icons/networ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2066544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67512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Dual-Listener no Kafka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6080760" y="2423160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9092 (PLAINTEXT):  </a:t>
            </a: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aberta ao IP público da EC2, usada pelo producer.py local.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9094 (INTERNAL):  </a:t>
            </a: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acessível apenas na VPC privada, usada pela Lambda, sem exposição pública.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806440" y="3931920"/>
            <a:ext cx="5806440" cy="2103120"/>
          </a:xfrm>
          <a:prstGeom prst="roundRect">
            <a:avLst>
              <a:gd name="adj" fmla="val 3478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1B242B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080760" y="418795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7" name="Image 2" descr="/home/claude/icons/cube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4306824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675120" y="4206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de Sub-redes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6080760" y="4681728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fiap-msk-subnet-1  (10.0.1.0/24):  </a:t>
            </a:r>
            <a:r>
              <a:rPr lang="en-US" sz="1150" dirty="0">
                <a:solidFill>
                  <a:srgbClr val="1B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pública, com EC2 e NAT Gateway, rota para Internet Gateway.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fiap-msk-subnet-2  (10.0.2.0/24):  </a:t>
            </a:r>
            <a:r>
              <a:rPr lang="en-US" sz="1150" dirty="0">
                <a:solidFill>
                  <a:srgbClr val="1B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privada, exclusiva da Lambda, rota para o NAT Gateway.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 Tech FIAP  •  Data Science  •  Tech Challenge 02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Padrão Stream-Static Join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tabela é processada de acordo com a sua própria natureza de atualização.</a:t>
            </a:r>
            <a:endParaRPr lang="en-US" sz="1400" dirty="0"/>
          </a:p>
        </p:txBody>
      </p: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C81DC7E2-CC52-8C50-3719-DD797F61CC49}"/>
              </a:ext>
            </a:extLst>
          </p:cNvPr>
          <p:cNvGrpSpPr/>
          <p:nvPr/>
        </p:nvGrpSpPr>
        <p:grpSpPr>
          <a:xfrm>
            <a:off x="640080" y="1570939"/>
            <a:ext cx="2834640" cy="1051560"/>
            <a:chOff x="640080" y="1783080"/>
            <a:chExt cx="2834640" cy="1051560"/>
          </a:xfrm>
        </p:grpSpPr>
        <p:sp>
          <p:nvSpPr>
            <p:cNvPr id="4" name="Shape 2"/>
            <p:cNvSpPr/>
            <p:nvPr/>
          </p:nvSpPr>
          <p:spPr>
            <a:xfrm>
              <a:off x="640080" y="1783080"/>
              <a:ext cx="2834640" cy="1051560"/>
            </a:xfrm>
            <a:prstGeom prst="roundRect">
              <a:avLst>
                <a:gd name="adj" fmla="val 6087"/>
              </a:avLst>
            </a:prstGeom>
            <a:solidFill>
              <a:srgbClr val="1C7293"/>
            </a:solidFill>
            <a:ln/>
          </p:spPr>
        </p:sp>
        <p:sp>
          <p:nvSpPr>
            <p:cNvPr id="5" name="Shape 3"/>
            <p:cNvSpPr/>
            <p:nvPr/>
          </p:nvSpPr>
          <p:spPr>
            <a:xfrm>
              <a:off x="822960" y="1965960"/>
              <a:ext cx="502920" cy="502920"/>
            </a:xfrm>
            <a:prstGeom prst="ellipse">
              <a:avLst/>
            </a:prstGeom>
            <a:solidFill>
              <a:srgbClr val="21295C"/>
            </a:solidFill>
            <a:ln/>
          </p:spPr>
        </p:sp>
        <p:pic>
          <p:nvPicPr>
            <p:cNvPr id="6" name="Image 0" descr="/home/claude/icons/clock_FFFFFF.png"/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3719" y="2096719"/>
              <a:ext cx="241402" cy="241402"/>
            </a:xfrm>
            <a:prstGeom prst="rect">
              <a:avLst/>
            </a:prstGeom>
          </p:spPr>
        </p:pic>
        <p:sp>
          <p:nvSpPr>
            <p:cNvPr id="7" name="Text 4"/>
            <p:cNvSpPr/>
            <p:nvPr/>
          </p:nvSpPr>
          <p:spPr>
            <a:xfrm>
              <a:off x="1463040" y="1874520"/>
              <a:ext cx="18745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TS_ESTADO</a:t>
              </a:r>
              <a:endParaRPr lang="en-US" sz="13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1463040" y="2194560"/>
              <a:ext cx="18745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rgbClr val="CFE8F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Batch (Estático) — anual</a:t>
              </a:r>
              <a:endParaRPr lang="en-US" sz="1000" dirty="0"/>
            </a:p>
          </p:txBody>
        </p:sp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8C677BCD-40DF-6BA3-8FFC-BF2B598E9E5A}"/>
              </a:ext>
            </a:extLst>
          </p:cNvPr>
          <p:cNvGrpSpPr/>
          <p:nvPr/>
        </p:nvGrpSpPr>
        <p:grpSpPr>
          <a:xfrm>
            <a:off x="640080" y="3052093"/>
            <a:ext cx="2834640" cy="1051560"/>
            <a:chOff x="640080" y="3063240"/>
            <a:chExt cx="2834640" cy="1051560"/>
          </a:xfrm>
        </p:grpSpPr>
        <p:sp>
          <p:nvSpPr>
            <p:cNvPr id="9" name="Shape 6"/>
            <p:cNvSpPr/>
            <p:nvPr/>
          </p:nvSpPr>
          <p:spPr>
            <a:xfrm>
              <a:off x="640080" y="3063240"/>
              <a:ext cx="2834640" cy="1051560"/>
            </a:xfrm>
            <a:prstGeom prst="roundRect">
              <a:avLst>
                <a:gd name="adj" fmla="val 6087"/>
              </a:avLst>
            </a:prstGeom>
            <a:solidFill>
              <a:srgbClr val="1C7293"/>
            </a:solidFill>
            <a:ln/>
          </p:spPr>
        </p:sp>
        <p:sp>
          <p:nvSpPr>
            <p:cNvPr id="10" name="Shape 7"/>
            <p:cNvSpPr/>
            <p:nvPr/>
          </p:nvSpPr>
          <p:spPr>
            <a:xfrm>
              <a:off x="822960" y="3246120"/>
              <a:ext cx="502920" cy="502920"/>
            </a:xfrm>
            <a:prstGeom prst="ellipse">
              <a:avLst/>
            </a:prstGeom>
            <a:solidFill>
              <a:srgbClr val="21295C"/>
            </a:solidFill>
            <a:ln/>
          </p:spPr>
        </p:sp>
        <p:pic>
          <p:nvPicPr>
            <p:cNvPr id="11" name="Image 1" descr="/home/claude/icons/clock_FFFFFF.png"/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3719" y="3376879"/>
              <a:ext cx="241402" cy="241402"/>
            </a:xfrm>
            <a:prstGeom prst="rect">
              <a:avLst/>
            </a:prstGeom>
          </p:spPr>
        </p:pic>
        <p:sp>
          <p:nvSpPr>
            <p:cNvPr id="12" name="Text 8"/>
            <p:cNvSpPr/>
            <p:nvPr/>
          </p:nvSpPr>
          <p:spPr>
            <a:xfrm>
              <a:off x="1463040" y="3154680"/>
              <a:ext cx="18745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TS_MUNICIPIO</a:t>
              </a:r>
              <a:endParaRPr lang="en-US" sz="130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1463040" y="3474720"/>
              <a:ext cx="187452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000" dirty="0">
                  <a:solidFill>
                    <a:srgbClr val="CFE8F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Batch (Estático) — anual</a:t>
              </a:r>
              <a:endParaRPr lang="en-US" sz="1000" dirty="0"/>
            </a:p>
          </p:txBody>
        </p:sp>
      </p:grpSp>
      <p:sp>
        <p:nvSpPr>
          <p:cNvPr id="14" name="Text 10"/>
          <p:cNvSpPr/>
          <p:nvPr/>
        </p:nvSpPr>
        <p:spPr>
          <a:xfrm>
            <a:off x="640080" y="55820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Carregadas 1x em cache global de memória no cold start da Lambda</a:t>
            </a:r>
            <a:endParaRPr lang="en-US" sz="950" dirty="0"/>
          </a:p>
        </p:txBody>
      </p: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67BEE580-D09F-FF83-FBC5-4959733FFF5A}"/>
              </a:ext>
            </a:extLst>
          </p:cNvPr>
          <p:cNvGrpSpPr/>
          <p:nvPr/>
        </p:nvGrpSpPr>
        <p:grpSpPr>
          <a:xfrm>
            <a:off x="4335636" y="2849667"/>
            <a:ext cx="2286000" cy="1463040"/>
            <a:chOff x="4160520" y="2514600"/>
            <a:chExt cx="2286000" cy="1463040"/>
          </a:xfrm>
        </p:grpSpPr>
        <p:sp>
          <p:nvSpPr>
            <p:cNvPr id="17" name="Shape 13"/>
            <p:cNvSpPr/>
            <p:nvPr/>
          </p:nvSpPr>
          <p:spPr>
            <a:xfrm>
              <a:off x="4160520" y="2514600"/>
              <a:ext cx="2286000" cy="1463040"/>
            </a:xfrm>
            <a:prstGeom prst="roundRect">
              <a:avLst>
                <a:gd name="adj" fmla="val 5625"/>
              </a:avLst>
            </a:prstGeom>
            <a:solidFill>
              <a:srgbClr val="21295C"/>
            </a:solidFill>
            <a:ln/>
            <a:effectLst>
              <a:outerShdw blurRad="101600" dist="25400" dir="5400000" algn="bl" rotWithShape="0">
                <a:srgbClr val="1B242B">
                  <a:alpha val="20000"/>
                </a:srgbClr>
              </a:outerShdw>
            </a:effectLst>
          </p:spPr>
        </p:sp>
        <p:sp>
          <p:nvSpPr>
            <p:cNvPr id="18" name="Shape 14"/>
            <p:cNvSpPr/>
            <p:nvPr/>
          </p:nvSpPr>
          <p:spPr>
            <a:xfrm>
              <a:off x="4983480" y="2697480"/>
              <a:ext cx="548640" cy="548640"/>
            </a:xfrm>
            <a:prstGeom prst="ellipse">
              <a:avLst/>
            </a:prstGeom>
            <a:solidFill>
              <a:srgbClr val="E8A33D"/>
            </a:solidFill>
            <a:ln/>
          </p:spPr>
        </p:sp>
        <p:pic>
          <p:nvPicPr>
            <p:cNvPr id="19" name="Image 2" descr="/home/claude/icons/exchange_21295C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26126" y="2840126"/>
              <a:ext cx="263347" cy="263347"/>
            </a:xfrm>
            <a:prstGeom prst="rect">
              <a:avLst/>
            </a:prstGeom>
          </p:spPr>
        </p:pic>
        <p:sp>
          <p:nvSpPr>
            <p:cNvPr id="20" name="Text 15"/>
            <p:cNvSpPr/>
            <p:nvPr/>
          </p:nvSpPr>
          <p:spPr>
            <a:xfrm>
              <a:off x="4251960" y="3291840"/>
              <a:ext cx="210312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Stream-Static</a:t>
              </a:r>
              <a:endParaRPr lang="en-US" sz="1500" dirty="0"/>
            </a:p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Join</a:t>
              </a:r>
              <a:endParaRPr lang="en-US" sz="1500" dirty="0"/>
            </a:p>
          </p:txBody>
        </p:sp>
      </p:grpSp>
      <p:sp>
        <p:nvSpPr>
          <p:cNvPr id="22" name="Shape 17"/>
          <p:cNvSpPr/>
          <p:nvPr/>
        </p:nvSpPr>
        <p:spPr>
          <a:xfrm>
            <a:off x="640080" y="4533246"/>
            <a:ext cx="2834640" cy="1051560"/>
          </a:xfrm>
          <a:prstGeom prst="roundRect">
            <a:avLst>
              <a:gd name="adj" fmla="val 6087"/>
            </a:avLst>
          </a:prstGeom>
          <a:solidFill>
            <a:srgbClr val="E8A33D"/>
          </a:solidFill>
          <a:ln/>
        </p:spPr>
      </p:sp>
      <p:sp>
        <p:nvSpPr>
          <p:cNvPr id="23" name="Shape 18"/>
          <p:cNvSpPr/>
          <p:nvPr/>
        </p:nvSpPr>
        <p:spPr>
          <a:xfrm>
            <a:off x="822960" y="4928267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4" name="Image 3" descr="/home/claude/icons/bolt_E8A33D.png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1005475" y="5059026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63040" y="4836827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TS_ALUNO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413546" y="5052125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(Dinâmico) — evento a evento</a:t>
            </a:r>
            <a:endParaRPr lang="en-US" sz="1000" dirty="0"/>
          </a:p>
        </p:txBody>
      </p: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6B7F0860-562E-F1F9-7763-BFF7B86551FC}"/>
              </a:ext>
            </a:extLst>
          </p:cNvPr>
          <p:cNvGrpSpPr/>
          <p:nvPr/>
        </p:nvGrpSpPr>
        <p:grpSpPr>
          <a:xfrm>
            <a:off x="7200900" y="2852203"/>
            <a:ext cx="2468880" cy="1463040"/>
            <a:chOff x="7132320" y="2514600"/>
            <a:chExt cx="2468880" cy="1463040"/>
          </a:xfrm>
        </p:grpSpPr>
        <p:sp>
          <p:nvSpPr>
            <p:cNvPr id="28" name="Shape 22"/>
            <p:cNvSpPr/>
            <p:nvPr/>
          </p:nvSpPr>
          <p:spPr>
            <a:xfrm>
              <a:off x="7132320" y="2514600"/>
              <a:ext cx="2468880" cy="1463040"/>
            </a:xfrm>
            <a:prstGeom prst="roundRect">
              <a:avLst>
                <a:gd name="adj" fmla="val 5625"/>
              </a:avLst>
            </a:prstGeom>
            <a:solidFill>
              <a:srgbClr val="F4F8FA"/>
            </a:solidFill>
            <a:ln w="19050">
              <a:solidFill>
                <a:srgbClr val="1C7293"/>
              </a:solidFill>
              <a:prstDash val="solid"/>
            </a:ln>
          </p:spPr>
        </p:sp>
        <p:sp>
          <p:nvSpPr>
            <p:cNvPr id="29" name="Shape 23"/>
            <p:cNvSpPr/>
            <p:nvPr/>
          </p:nvSpPr>
          <p:spPr>
            <a:xfrm>
              <a:off x="8001000" y="2697480"/>
              <a:ext cx="548640" cy="548640"/>
            </a:xfrm>
            <a:prstGeom prst="ellipse">
              <a:avLst/>
            </a:prstGeom>
            <a:solidFill>
              <a:srgbClr val="065A82"/>
            </a:solidFill>
            <a:ln/>
          </p:spPr>
        </p:sp>
        <p:pic>
          <p:nvPicPr>
            <p:cNvPr id="30" name="Image 4" descr="/home/claude/icons/database_FFFFFF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43646" y="2840126"/>
              <a:ext cx="263347" cy="263347"/>
            </a:xfrm>
            <a:prstGeom prst="rect">
              <a:avLst/>
            </a:prstGeom>
          </p:spPr>
        </p:pic>
        <p:sp>
          <p:nvSpPr>
            <p:cNvPr id="31" name="Text 24"/>
            <p:cNvSpPr/>
            <p:nvPr/>
          </p:nvSpPr>
          <p:spPr>
            <a:xfrm>
              <a:off x="7223760" y="3291840"/>
              <a:ext cx="228600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500" b="1" dirty="0">
                  <a:solidFill>
                    <a:srgbClr val="21295C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Silver</a:t>
              </a:r>
              <a:endParaRPr lang="en-US" sz="1500" dirty="0"/>
            </a:p>
            <a:p>
              <a:pPr marL="0" indent="0" algn="ctr">
                <a:lnSpc>
                  <a:spcPct val="110000"/>
                </a:lnSpc>
                <a:buNone/>
              </a:pPr>
              <a:r>
                <a:rPr lang="en-US" sz="1500" b="1" dirty="0">
                  <a:solidFill>
                    <a:srgbClr val="21295C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(Parquet)</a:t>
              </a:r>
              <a:endParaRPr lang="en-US" sz="1500" dirty="0"/>
            </a:p>
          </p:txBody>
        </p:sp>
      </p:grpSp>
      <p:sp>
        <p:nvSpPr>
          <p:cNvPr id="32" name="Shape 25"/>
          <p:cNvSpPr/>
          <p:nvPr/>
        </p:nvSpPr>
        <p:spPr>
          <a:xfrm>
            <a:off x="9829800" y="1737360"/>
            <a:ext cx="1828800" cy="416052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/>
        </p:spPr>
      </p:sp>
      <p:sp>
        <p:nvSpPr>
          <p:cNvPr id="33" name="Text 26"/>
          <p:cNvSpPr/>
          <p:nvPr/>
        </p:nvSpPr>
        <p:spPr>
          <a:xfrm>
            <a:off x="996696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e Batch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9966960" y="2286000"/>
            <a:ext cx="15544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de referência do INEP são publicadas 1x/ano. Os resultados dos </a:t>
            </a:r>
            <a:r>
              <a:rPr lang="en-US" sz="1050" dirty="0" err="1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</a:t>
            </a: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chegam</a:t>
            </a: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lotes</a:t>
            </a: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50" dirty="0" err="1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simulando o fluxo real de correção das provas.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 Tech FIAP  •  Data Science  •  Tech Challenge 02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D256CC99-E825-3DB8-69BC-2B306A59DBF6}"/>
              </a:ext>
            </a:extLst>
          </p:cNvPr>
          <p:cNvCxnSpPr>
            <a:stCxn id="9" idx="3"/>
            <a:endCxn id="17" idx="1"/>
          </p:cNvCxnSpPr>
          <p:nvPr/>
        </p:nvCxnSpPr>
        <p:spPr>
          <a:xfrm>
            <a:off x="3474720" y="3577873"/>
            <a:ext cx="860916" cy="3314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: Angulado 42">
            <a:extLst>
              <a:ext uri="{FF2B5EF4-FFF2-40B4-BE49-F238E27FC236}">
                <a16:creationId xmlns:a16="http://schemas.microsoft.com/office/drawing/2014/main" id="{7A49AED4-FD6C-9463-8508-F7346DE555D5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3474720" y="3369046"/>
            <a:ext cx="137160" cy="1689980"/>
          </a:xfrm>
          <a:prstGeom prst="bentConnector2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: Angulado 46">
            <a:extLst>
              <a:ext uri="{FF2B5EF4-FFF2-40B4-BE49-F238E27FC236}">
                <a16:creationId xmlns:a16="http://schemas.microsoft.com/office/drawing/2014/main" id="{700065A6-A9FA-0157-1F5B-F552BEA873C2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474720" y="2096719"/>
            <a:ext cx="137160" cy="1272327"/>
          </a:xfrm>
          <a:prstGeom prst="bentConnector2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>
            <a:extLst>
              <a:ext uri="{FF2B5EF4-FFF2-40B4-BE49-F238E27FC236}">
                <a16:creationId xmlns:a16="http://schemas.microsoft.com/office/drawing/2014/main" id="{A41D1FA4-57FC-0CBD-71E6-963894144016}"/>
              </a:ext>
            </a:extLst>
          </p:cNvPr>
          <p:cNvCxnSpPr>
            <a:cxnSpLocks/>
            <a:stCxn id="17" idx="3"/>
            <a:endCxn id="28" idx="1"/>
          </p:cNvCxnSpPr>
          <p:nvPr/>
        </p:nvCxnSpPr>
        <p:spPr>
          <a:xfrm>
            <a:off x="6621636" y="3581187"/>
            <a:ext cx="579264" cy="2536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de Dados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automática de schema na transição Bronze → Silver, com a biblioteca Pandera.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315200" cy="777240"/>
          </a:xfrm>
          <a:prstGeom prst="roundRect">
            <a:avLst>
              <a:gd name="adj" fmla="val 7059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901952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24" y="2039844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562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NU_ANO_AVALIACAO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17320" y="21671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Int64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251960" y="17830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 pertencer estritamente a 2023, 2024 ou 2025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73152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713232" y="2816352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icons/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24" y="2954244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7706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VL_PROFICIENCIA_LP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417320" y="3081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(nullable)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251960" y="26974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entre 0 e 1000; aceita nulos para alunos ausentes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3611880"/>
            <a:ext cx="7315200" cy="777240"/>
          </a:xfrm>
          <a:prstGeom prst="roundRect">
            <a:avLst>
              <a:gd name="adj" fmla="val 7059"/>
            </a:avLst>
          </a:prstGeom>
          <a:solidFill>
            <a:srgbClr val="F4F8FA"/>
          </a:solidFill>
          <a:ln/>
        </p:spPr>
      </p:sp>
      <p:sp>
        <p:nvSpPr>
          <p:cNvPr id="17" name="Shape 13"/>
          <p:cNvSpPr/>
          <p:nvPr/>
        </p:nvSpPr>
        <p:spPr>
          <a:xfrm>
            <a:off x="713232" y="3730752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/home/claude/icons/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24" y="3868644"/>
            <a:ext cx="254569" cy="25456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685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CO_UF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417320" y="39959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Int64 (coerce)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251960" y="36118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Coação automática para garantir consistência no cruzamento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4526280"/>
            <a:ext cx="73152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713232" y="4645152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/home/claude/icons/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24" y="4783044"/>
            <a:ext cx="254569" cy="25456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17320" y="45994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DESVIO_MEDIA_MUNICIPIO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417320" y="49103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4251960" y="45262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após o cálculo da junção com dados municipais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8183880" y="1783080"/>
            <a:ext cx="3474720" cy="3749040"/>
          </a:xfrm>
          <a:prstGeom prst="roundRect">
            <a:avLst>
              <a:gd name="adj" fmla="val 2105"/>
            </a:avLst>
          </a:prstGeom>
          <a:solidFill>
            <a:srgbClr val="21295C"/>
          </a:solidFill>
          <a:ln/>
          <a:effectLst>
            <a:outerShdw blurRad="76200" dist="25400" dir="5400000" algn="bl" rotWithShape="0">
              <a:srgbClr val="1B242B">
                <a:alpha val="1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458200" y="205740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0" name="Image 4" descr="/home/claude/icons/shield_2129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0846" y="2200046"/>
            <a:ext cx="263347" cy="26334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183880" y="2743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strict = False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8503920" y="320040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 entrada de novas colunas sem quebrar a validação — apenas as chaves estruturais são checadas.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8503920" y="4206240"/>
            <a:ext cx="2880360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8503920" y="43891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[AVISO DE QUALIDADE DE DADOS]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8503920" y="470916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caso de desconformidade, um aviso é impresso no console — sem interromper a execução do fluxo batch ou streaming.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 Tech FIAP  •  Data Science  •  Tech Challenge 02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>
            <a:extLst>
              <a:ext uri="{FF2B5EF4-FFF2-40B4-BE49-F238E27FC236}">
                <a16:creationId xmlns:a16="http://schemas.microsoft.com/office/drawing/2014/main" id="{B991C239-197D-FA4A-69E5-7DBDBAC8C9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 de Arquitetura &amp; FinOps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Escolhas técnicas orientadas por custo, escalabilidade e portabilidade.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1965960"/>
          </a:xfrm>
          <a:prstGeom prst="roundRect">
            <a:avLst>
              <a:gd name="adj" fmla="val 3721"/>
            </a:avLst>
          </a:prstGeom>
          <a:solidFill>
            <a:schemeClr val="accent2">
              <a:lumMod val="75000"/>
            </a:schemeClr>
          </a:solidFill>
          <a:ln/>
          <a:effectLst>
            <a:outerShdw blurRad="63500" dist="25400" dir="5400000" algn="bl" rotWithShape="0">
              <a:srgbClr val="1B242B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417320" y="192024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em EC2 (Docker) vs. Amazon MSK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MSK custa US$ 100–200/mês mesmo sem uso. A EC2 t3.small custa ~US$ 15/mês e pode ser pausada em períodos ociosos. O container roda identicamente local e na nuvem.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6035040" y="1737360"/>
            <a:ext cx="5120640" cy="1965960"/>
          </a:xfrm>
          <a:prstGeom prst="roundRect">
            <a:avLst>
              <a:gd name="adj" fmla="val 3721"/>
            </a:avLst>
          </a:prstGeom>
          <a:solidFill>
            <a:schemeClr val="accent2">
              <a:lumMod val="75000"/>
            </a:schemeClr>
          </a:solidFill>
          <a:ln/>
          <a:effectLst>
            <a:outerShdw blurRad="63500" dist="25400" dir="5400000" algn="bl" rotWithShape="0">
              <a:srgbClr val="1B242B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903720" y="192024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Serverless (Lambda) vs. EC2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6263640" y="26060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escala automaticamente com o volume de mensagens, sem gerenciar daemons. Cobrança apenas pelo tempo de execução real — custo mensal próximo de zero.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120640" cy="1965960"/>
          </a:xfrm>
          <a:prstGeom prst="roundRect">
            <a:avLst>
              <a:gd name="adj" fmla="val 3721"/>
            </a:avLst>
          </a:prstGeom>
          <a:solidFill>
            <a:schemeClr val="accent2">
              <a:lumMod val="75000"/>
            </a:schemeClr>
          </a:solidFill>
          <a:ln/>
          <a:effectLst>
            <a:outerShdw blurRad="63500" dist="25400" dir="5400000" algn="bl" rotWithShape="0">
              <a:srgbClr val="1B242B">
                <a:alpha val="1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1417320" y="416052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sob demanda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8" name="Text 13"/>
          <p:cNvSpPr/>
          <p:nvPr/>
        </p:nvSpPr>
        <p:spPr>
          <a:xfrm>
            <a:off x="777240" y="48463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Necessário para a Lambda (VPC privada) acessar as APIs da AWS (~US$ 30/mês). Estratégia de mitigação: criar/destruir via Terraform apenas durante uso ativo.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035040" y="3977640"/>
            <a:ext cx="5120640" cy="1965960"/>
          </a:xfrm>
          <a:prstGeom prst="roundRect">
            <a:avLst>
              <a:gd name="adj" fmla="val 3721"/>
            </a:avLst>
          </a:prstGeom>
          <a:solidFill>
            <a:schemeClr val="accent2">
              <a:lumMod val="75000"/>
            </a:schemeClr>
          </a:solidFill>
          <a:ln/>
          <a:effectLst>
            <a:outerShdw blurRad="63500" dist="25400" dir="5400000" algn="bl" rotWithShape="0">
              <a:srgbClr val="1B242B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63640" y="4206240"/>
            <a:ext cx="502920" cy="502920"/>
          </a:xfrm>
          <a:prstGeom prst="ellipse">
            <a:avLst/>
          </a:prstGeom>
          <a:solidFill>
            <a:srgbClr val="F58536"/>
          </a:solidFill>
          <a:ln/>
        </p:spPr>
      </p:sp>
      <p:pic>
        <p:nvPicPr>
          <p:cNvPr id="21" name="Image 3" descr="/home/claude/icons/layers_FFFFFF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94399" y="433699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416052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Particionamento Hive por ano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3" name="Text 17"/>
          <p:cNvSpPr/>
          <p:nvPr/>
        </p:nvSpPr>
        <p:spPr>
          <a:xfrm>
            <a:off x="6263640" y="48463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ano=YYYY/ no S3 habilita partition pruning no Athena e Glue, reduzindo o volume de dados lidos em consultas em mais de 60%.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4" name="Text 18"/>
          <p:cNvSpPr/>
          <p:nvPr/>
        </p:nvSpPr>
        <p:spPr>
          <a:xfrm>
            <a:off x="548640" y="5989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A3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Observação:  </a:t>
            </a:r>
            <a:r>
              <a:rPr lang="en-US" sz="10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estratégia de criar/destruir o NAT Gateway via IaC ainda não foi aplicada no código atual do projeto.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 Tech FIAP  •  Data Science  •  Tech Challenge 02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DCA1E913-CFC5-9F70-CE96-6D34C0813A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1678494"/>
            <a:ext cx="1393991" cy="1051560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687FD184-B775-096B-CAAF-4B1DAC67FB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792" y="1817861"/>
            <a:ext cx="1623536" cy="1040520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B3FDC842-6889-2500-1AD2-919AE867D3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722" y="4195494"/>
            <a:ext cx="660598" cy="6396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Passos: Camada Gold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consolidação da Silver às tabelas analíticas prontas para consumo de negócio.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82980" y="2606040"/>
            <a:ext cx="0" cy="73152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600200" y="1810512"/>
            <a:ext cx="9966960" cy="1170432"/>
          </a:xfrm>
          <a:prstGeom prst="roundRect">
            <a:avLst>
              <a:gd name="adj" fmla="val 5469"/>
            </a:avLst>
          </a:prstGeom>
          <a:solidFill>
            <a:srgbClr val="16215A"/>
          </a:solidFill>
          <a:ln/>
        </p:spPr>
      </p:sp>
      <p:sp>
        <p:nvSpPr>
          <p:cNvPr id="8" name="Shape 6"/>
          <p:cNvSpPr/>
          <p:nvPr/>
        </p:nvSpPr>
        <p:spPr>
          <a:xfrm>
            <a:off x="1783080" y="2002536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/home/claude/icons/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7614" y="2157070"/>
            <a:ext cx="285293" cy="28529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560320" y="190195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 da Silver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560320" y="2267712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notebook 04 - </a:t>
            </a:r>
            <a:r>
              <a:rPr lang="en-US" sz="1150" dirty="0" err="1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pipeline_silver_gold.ipynb</a:t>
            </a: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</a:t>
            </a: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</a:t>
            </a: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S3 e </a:t>
            </a:r>
            <a:r>
              <a:rPr lang="en-US" sz="1150" dirty="0" err="1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</a:t>
            </a: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</a:t>
            </a:r>
            <a:r>
              <a:rPr lang="en-US" sz="1150" dirty="0" err="1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</a:t>
            </a: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validando o volume por ano.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333756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3337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982980" y="4023360"/>
            <a:ext cx="0" cy="73152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1600200" y="3227832"/>
            <a:ext cx="9966960" cy="1170432"/>
          </a:xfrm>
          <a:prstGeom prst="roundRect">
            <a:avLst>
              <a:gd name="adj" fmla="val 5469"/>
            </a:avLst>
          </a:prstGeom>
          <a:solidFill>
            <a:srgbClr val="16215A"/>
          </a:solidFill>
          <a:ln/>
        </p:spPr>
      </p:sp>
      <p:sp>
        <p:nvSpPr>
          <p:cNvPr id="16" name="Shape 13"/>
          <p:cNvSpPr/>
          <p:nvPr/>
        </p:nvSpPr>
        <p:spPr>
          <a:xfrm>
            <a:off x="1783080" y="3419856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1" descr="/home/claude/icons/cha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7614" y="3574390"/>
            <a:ext cx="285293" cy="28529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560320" y="331927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Athena + Glue Data Catalog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2560320" y="3685032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principal: queries SQL diretas no S3 para gerar tabelas Gold (médias consolidadas por UF e Município), minimizando custo e complexidade.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40080" y="475488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7"/>
          <p:cNvSpPr/>
          <p:nvPr/>
        </p:nvSpPr>
        <p:spPr>
          <a:xfrm>
            <a:off x="640080" y="4754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Shape 18"/>
          <p:cNvSpPr/>
          <p:nvPr/>
        </p:nvSpPr>
        <p:spPr>
          <a:xfrm>
            <a:off x="1600200" y="4645152"/>
            <a:ext cx="9966960" cy="1170432"/>
          </a:xfrm>
          <a:prstGeom prst="roundRect">
            <a:avLst>
              <a:gd name="adj" fmla="val 5469"/>
            </a:avLst>
          </a:prstGeom>
          <a:solidFill>
            <a:srgbClr val="16215A"/>
          </a:solidFill>
          <a:ln/>
        </p:spPr>
      </p:sp>
      <p:sp>
        <p:nvSpPr>
          <p:cNvPr id="23" name="Shape 19"/>
          <p:cNvSpPr/>
          <p:nvPr/>
        </p:nvSpPr>
        <p:spPr>
          <a:xfrm>
            <a:off x="1783080" y="4837176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2" descr="/home/claude/icons/cube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7614" y="4991710"/>
            <a:ext cx="285293" cy="28529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560320" y="47365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 Job (alternativa)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2560320" y="5102352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o volume escale para centenas de gigabytes, um Glue Job (Spark Batch) pode ser agendado para consolidar os micro-lotes da Silver em Gold.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 Tech FIAP  •  Data Science  •  Tech Challenge 02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0" y="288036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0" y="62636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oficial dos dados: gov.br/inep — Avaliação da Alfabetização</a:t>
            </a:r>
            <a:endParaRPr lang="en-US" sz="1050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2B74739-3E22-F5F4-0470-7DF902E47A1C}"/>
              </a:ext>
            </a:extLst>
          </p:cNvPr>
          <p:cNvSpPr/>
          <p:nvPr/>
        </p:nvSpPr>
        <p:spPr>
          <a:xfrm rot="19090976">
            <a:off x="8013094" y="5303521"/>
            <a:ext cx="4974535" cy="2743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3628853-2324-4203-83D3-BEF14B9CD1A0}"/>
              </a:ext>
            </a:extLst>
          </p:cNvPr>
          <p:cNvSpPr/>
          <p:nvPr/>
        </p:nvSpPr>
        <p:spPr>
          <a:xfrm rot="19090976">
            <a:off x="8637565" y="5645702"/>
            <a:ext cx="4701906" cy="2743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1839D13-E196-10A8-89A0-F990DA65E571}"/>
              </a:ext>
            </a:extLst>
          </p:cNvPr>
          <p:cNvSpPr/>
          <p:nvPr/>
        </p:nvSpPr>
        <p:spPr>
          <a:xfrm rot="19090976">
            <a:off x="7122835" y="4890227"/>
            <a:ext cx="5941624" cy="27432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C9A17833-0435-33C3-1F0D-BA48F2603BC2}"/>
              </a:ext>
            </a:extLst>
          </p:cNvPr>
          <p:cNvSpPr/>
          <p:nvPr/>
        </p:nvSpPr>
        <p:spPr>
          <a:xfrm>
            <a:off x="10577757" y="6316521"/>
            <a:ext cx="1614243" cy="530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&lt;\Hello World&gt;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2F5B2064B709C4B96B2BB6BA56010CA" ma:contentTypeVersion="12" ma:contentTypeDescription="Crie um novo documento." ma:contentTypeScope="" ma:versionID="c75267e45ffc441626e65edd1879c154">
  <xsd:schema xmlns:xsd="http://www.w3.org/2001/XMLSchema" xmlns:xs="http://www.w3.org/2001/XMLSchema" xmlns:p="http://schemas.microsoft.com/office/2006/metadata/properties" xmlns:ns2="242e9f65-b814-4ed0-b249-7801049d5c23" xmlns:ns3="051cde21-3992-497a-b8fe-9bb2eb9c95f5" targetNamespace="http://schemas.microsoft.com/office/2006/metadata/properties" ma:root="true" ma:fieldsID="5ce575aedca7f38b5bea02731dab9aa4" ns2:_="" ns3:_="">
    <xsd:import namespace="242e9f65-b814-4ed0-b249-7801049d5c23"/>
    <xsd:import namespace="051cde21-3992-497a-b8fe-9bb2eb9c95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2e9f65-b814-4ed0-b249-7801049d5c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394d2bc3-e22e-42db-b4dd-8ec92871ba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1cde21-3992-497a-b8fe-9bb2eb9c95f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b48e568-db8f-49b3-a172-8970c3cec87e}" ma:internalName="TaxCatchAll" ma:showField="CatchAllData" ma:web="051cde21-3992-497a-b8fe-9bb2eb9c95f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51cde21-3992-497a-b8fe-9bb2eb9c95f5" xsi:nil="true"/>
    <lcf76f155ced4ddcb4097134ff3c332f xmlns="242e9f65-b814-4ed0-b249-7801049d5c2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CBEAB4F-2580-4BC1-8796-D1C663582EBD}"/>
</file>

<file path=customXml/itemProps2.xml><?xml version="1.0" encoding="utf-8"?>
<ds:datastoreItem xmlns:ds="http://schemas.openxmlformats.org/officeDocument/2006/customXml" ds:itemID="{56F7C932-50C5-4D96-9D27-4B0C69E6DE79}"/>
</file>

<file path=customXml/itemProps3.xml><?xml version="1.0" encoding="utf-8"?>
<ds:datastoreItem xmlns:ds="http://schemas.openxmlformats.org/officeDocument/2006/customXml" ds:itemID="{D680A664-7CE7-4A40-B1E7-87CA7CA84CAC}"/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1180</Words>
  <Application>Microsoft Office PowerPoint</Application>
  <PresentationFormat>Widescreen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Lucas Martins</cp:lastModifiedBy>
  <cp:revision>2</cp:revision>
  <dcterms:created xsi:type="dcterms:W3CDTF">2026-07-11T15:14:06Z</dcterms:created>
  <dcterms:modified xsi:type="dcterms:W3CDTF">2026-07-11T15:58:43Z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0x010100B2F5B2064B709C4B96B2BB6BA56010CA</vt:lpwstr>
  </property>
</Properties>
</file>